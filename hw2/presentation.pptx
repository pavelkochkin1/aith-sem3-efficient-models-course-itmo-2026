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e95460a8634ffa" /><Relationship Type="http://schemas.openxmlformats.org/officeDocument/2006/relationships/extended-properties" Target="/docProps/app.xml" Id="Ra9241172d8a647e1" /><Relationship Type="http://schemas.openxmlformats.org/officeDocument/2006/relationships/officeDocument" Target="/ppt/presentation.xml" Id="Rb6911af27820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7c3caf2674aa5"/>
  </p:sldMasterIdLst>
  <p:notesMasterIdLst>
    <p:notesMasterId xmlns:r="http://schemas.openxmlformats.org/officeDocument/2006/relationships" r:id="R1de3203320c34bad"/>
  </p:notesMasterIdLst>
  <p:sldIdLst>
    <p:sldId xmlns:r="http://schemas.openxmlformats.org/officeDocument/2006/relationships" id="256" r:id="R331daf1f74a34e91"/>
    <p:sldId xmlns:r="http://schemas.openxmlformats.org/officeDocument/2006/relationships" id="257" r:id="R8c9453bdfb554006"/>
    <p:sldId xmlns:r="http://schemas.openxmlformats.org/officeDocument/2006/relationships" id="258" r:id="R8d85329f38dc44aa"/>
    <p:sldId xmlns:r="http://schemas.openxmlformats.org/officeDocument/2006/relationships" id="259" r:id="R1cf271c2dda74afe"/>
    <p:sldId xmlns:r="http://schemas.openxmlformats.org/officeDocument/2006/relationships" id="260" r:id="Re79df2d004484088"/>
    <p:sldId xmlns:r="http://schemas.openxmlformats.org/officeDocument/2006/relationships" id="261" r:id="Rfdda7f9d41d344f8"/>
    <p:sldId xmlns:r="http://schemas.openxmlformats.org/officeDocument/2006/relationships" id="262" r:id="Rc8a73014a0934a02"/>
    <p:sldId xmlns:r="http://schemas.openxmlformats.org/officeDocument/2006/relationships" id="263" r:id="R0d73f1aa58744f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9aec01aeed4b3c" /><Relationship Type="http://schemas.openxmlformats.org/officeDocument/2006/relationships/slideMaster" Target="/ppt/slideMasters/slideMaster1.xml" Id="Rcf57c3caf2674aa5" /><Relationship Type="http://schemas.openxmlformats.org/officeDocument/2006/relationships/notesMaster" Target="/ppt/notesMasters/notesMaster1.xml" Id="R1de3203320c34bad" /><Relationship Type="http://schemas.openxmlformats.org/officeDocument/2006/relationships/presProps" Target="/ppt/presProps.xml" Id="Rfc9e062b638643bd" /><Relationship Type="http://schemas.openxmlformats.org/officeDocument/2006/relationships/tableStyles" Target="/ppt/tableStyles.xml" Id="R4014b28c54b94ad5" /><Relationship Type="http://schemas.openxmlformats.org/officeDocument/2006/relationships/slide" Target="/ppt/slides/slide1.xml" Id="R331daf1f74a34e91" /><Relationship Type="http://schemas.openxmlformats.org/officeDocument/2006/relationships/slide" Target="/ppt/slides/slide2.xml" Id="R8c9453bdfb554006" /><Relationship Type="http://schemas.openxmlformats.org/officeDocument/2006/relationships/slide" Target="/ppt/slides/slide3.xml" Id="R8d85329f38dc44aa" /><Relationship Type="http://schemas.openxmlformats.org/officeDocument/2006/relationships/slide" Target="/ppt/slides/slide4.xml" Id="R1cf271c2dda74afe" /><Relationship Type="http://schemas.openxmlformats.org/officeDocument/2006/relationships/slide" Target="/ppt/slides/slide5.xml" Id="Re79df2d004484088" /><Relationship Type="http://schemas.openxmlformats.org/officeDocument/2006/relationships/slide" Target="/ppt/slides/slide6.xml" Id="Rfdda7f9d41d344f8" /><Relationship Type="http://schemas.openxmlformats.org/officeDocument/2006/relationships/slide" Target="/ppt/slides/slide7.xml" Id="Rc8a73014a0934a02" /><Relationship Type="http://schemas.openxmlformats.org/officeDocument/2006/relationships/slide" Target="/ppt/slides/slide8.xml" Id="R0d73f1aa5874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33209b16e4f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ZerO">
      <a:dk1>
        <a:srgbClr val="000000"/>
      </a:dk1>
      <a:lt1>
        <a:srgbClr val="FFFFFF"/>
      </a:lt1>
      <a:dk2>
        <a:srgbClr val="17365C"/>
      </a:dk2>
      <a:lt2>
        <a:srgbClr val="F6F9FC"/>
      </a:lt2>
      <a:accent1>
        <a:srgbClr val="128777"/>
      </a:accent1>
      <a:accent2>
        <a:srgbClr val="3768B8"/>
      </a:accent2>
      <a:accent3>
        <a:srgbClr val="B97928"/>
      </a:accent3>
      <a:accent4>
        <a:srgbClr val="B24B69"/>
      </a:accent4>
      <a:accent5>
        <a:srgbClr val="7663B7"/>
      </a:accent5>
      <a:accent6>
        <a:srgbClr val="777777"/>
      </a:accent6>
      <a:hlink>
        <a:srgbClr val="3768B8"/>
      </a:hlink>
      <a:folHlink>
        <a:srgbClr val="12877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Ze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5e64a5a44446f" /><Relationship Type="http://schemas.openxmlformats.org/officeDocument/2006/relationships/notesMaster" Target="/ppt/notesMasters/notesMaster1.xml" Id="Rc5a4a4630578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a19b41a5840a4" /><Relationship Type="http://schemas.openxmlformats.org/officeDocument/2006/relationships/notesMaster" Target="/ppt/notesMasters/notesMaster1.xml" Id="Rd597d2571e7b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87191bad74889" /><Relationship Type="http://schemas.openxmlformats.org/officeDocument/2006/relationships/notesMaster" Target="/ppt/notesMasters/notesMaster1.xml" Id="Rc7d4c52d1aea4b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f6f166b404d3a" /><Relationship Type="http://schemas.openxmlformats.org/officeDocument/2006/relationships/notesMaster" Target="/ppt/notesMasters/notesMaster1.xml" Id="Ra7a16f92799e44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fcecaad5fd40f5" /><Relationship Type="http://schemas.openxmlformats.org/officeDocument/2006/relationships/notesMaster" Target="/ppt/notesMasters/notesMaster1.xml" Id="Rb1175fb4343945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a7d166e104d13" /><Relationship Type="http://schemas.openxmlformats.org/officeDocument/2006/relationships/notesMaster" Target="/ppt/notesMasters/notesMaster1.xml" Id="R005b6314bcac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9b18c54f8a46ef" /><Relationship Type="http://schemas.openxmlformats.org/officeDocument/2006/relationships/notesMaster" Target="/ppt/notesMasters/notesMaster1.xml" Id="R999e93fc3a00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e389d354174ad3" /><Relationship Type="http://schemas.openxmlformats.org/officeDocument/2006/relationships/notesMaster" Target="/ppt/notesMasters/notesMaster1.xml" Id="Rfbbf3028f750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Обычно перед обучением мы заполняем веса случайными числами и почти не задумываемся, можно ли иначе. Мне в ZerO понравился именно этот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проверил заранее заданные веса на распознавании рукописных цифр, а потом перенес идею в небольшой Transformer.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разберемся, какую работу вообще выполняет случайная инициализация. После этого будет понятнее, что предлагает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Веса задают, с каким вкладом сеть складывает входные числа. До обучения их тоже нужно чем-то заполнить.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Случайные веса помогают нейронам начать по-разному. Подходящий масштаб нужен, чтобы сигналы и градиенты не становились слишком маленькими или большими. Но конкретный набор чисел может повлиять на ход обучения.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Самая простая альтернатива выглядит так: давайте поставим везде нули. В моей ReLU-сети без смещений тогда пропадают и скрытые признаки, и градиенты весов. Учиться нечему.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ZerO предлагает подобрать структуру весов заранее. Посмотрим, как можно обойтись без случайных чисел и при этом запустить обучение.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Начнем с простого копирования. Identity оставляет входные числа как есть. Если увеличить ширину слоя, для новых выходов просто не найдется входных координат. В примере слева туда попадут нули.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расширении ZerO смешивает входы. За названием «матрица Хадамарда» стоит таблица плюсов и минусов. Для двух чисел можно посчитать сумму и разность: из 2 и 1 получатся 3 и 1. Никакого рандома для этого не нужно.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Дальше работает ReLU: обнуляет отрицательные значения. Для разных входов остаются разные комбинации признаков.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Теперь проверим, достаточно ли такого старта для обучения.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взял обычную полносвязную сеть и полную MNIST. Kaiming и Xavier задают веса случайно. У ZerO проверил два масштаба начальных весов.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Главное в таблице: все четыре варианта дали больше 98 процентов. Для каждого было три запуска. Число после плюса-минуса показывает разброс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Справа контрольные варианты. Identity тоже обучился, а полностью нулевая сеть осталась примерно на десяти процентах. Для каждого контроля был один запуск.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Получается, заранее заданные веса работают. Но превосходства над случайным стартом здесь не видно. Дальше я посмотрел, что происходило внутри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Ранг можно понимать как число независимых направлений. Здесь я измерял, в скольких направлениях изменились веса скрытого слоя после обучения.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графике меняется порог, ниже которого мы считаем направление слишком слабым. Чем меньше порог, тем больше деталей учитываем и тем выше оценка ранга.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пороге десять в минус четвертой степени у ZerO получилось примерно тысяча направлений, у identity 586. Но identity тоже дал 98,22 процента.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одним числом ранга качество не объяснить. Его еще нужно связать с тем, что требуется конкретной задаче.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я проверил ту же идею на другом устройстве модели. Картинку разбил на шестнадцать маленьких квадратов. Transformer обрабатывает их как последовательность и учится распознавать цифру.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Заранее заданный старт снова заработал. Вариант с масштабом из авторского кода получил около 97,7 процента. Xavier оказался рядом. По трем повторам выбирать победителя было бы слишком смело.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Само применение ZerO к Transformer уже исследовали на тексте. Мое дополнение здесь в задаче с изображениями и проверке того, как начинается обучение.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Помимо итоговой точности, я проверил несколько деталей.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формуле и авторском коде оказался разный масштаб весов. Я попробовал оба варианта. На MLP разница небольшая, но она есть.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attention часть весов начинается с нулей. Я посмотрел первые шаги: сначала меняются одни веса, а затем включаются остальные. Обучение не застревает, как у полностью нулевой MLP.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Еще нашел ошибку в конкретном примере из доказательства: у четырех векторов ранг оказался три. Подобрал исправленный пример с рангом четыре. Это замечание к примеру, а результаты обучения от него не исчезают.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Возвращаясь к исходному вопросу: в этих опытах случайные начальные веса оказались необязательны. И полносвязная сеть, и небольшой Transformer обучились с заранее заданными весами.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этом нельзя сказать, что ZerO всегда лучше. Качество получилось близким к привычным вариантам, а один ранг не объяснил все различия.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 еще: фиксированные начальные веса убирают только один источник случайности. Между моими повторами менялся порядок батчей, то есть пачек обучающих примеров.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меня главный результат в том, что осмысленная структура начальных весов может заменить рандом. Это удалось проверить в конкретных экспериментах.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4cf913db94c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2c0b3d1e64f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0a2eb417544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6c72a3bc54a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199f01cc444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4fa9a0eef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EAF0F-8B55-42ED-8D5F-8FAF084E2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C36F9F-07BB-4F21-B1DB-CCC7A13A29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4ED1A8-4B37-4140-8766-BE627B262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D0F151-84A8-41BF-88AF-2EBDC1933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146A3A-6528-42E2-B2ED-27B661EDB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7F6D6-076A-4280-A30B-3A886FF39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65545E-84D2-4811-AB04-C3A713F23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7FC0BD-90DE-4570-BD22-F1AD289CA6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6B1F9A-C6DB-4000-82D9-439D972A8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818B40-2DC6-4F0C-8EB3-4DAF588D64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83410101e4aae" /><Relationship Type="http://schemas.openxmlformats.org/officeDocument/2006/relationships/slideLayout" Target="/ppt/slideLayouts/slideLayout1.xml" Id="R25be4c969cbd4df5" /><Relationship Type="http://schemas.openxmlformats.org/officeDocument/2006/relationships/slideLayout" Target="/ppt/slideLayouts/slideLayout2.xml" Id="R7563e24ad3ee4c09" /><Relationship Type="http://schemas.openxmlformats.org/officeDocument/2006/relationships/slideLayout" Target="/ppt/slideLayouts/slideLayout3.xml" Id="R6c4f074fc8324bef" /><Relationship Type="http://schemas.openxmlformats.org/officeDocument/2006/relationships/slideLayout" Target="/ppt/slideLayouts/slideLayout4.xml" Id="R9a9cca60f0da4594" /><Relationship Type="http://schemas.openxmlformats.org/officeDocument/2006/relationships/slideLayout" Target="/ppt/slideLayouts/slideLayout5.xml" Id="R5f3f909e617443f4" /><Relationship Type="http://schemas.openxmlformats.org/officeDocument/2006/relationships/slideLayout" Target="/ppt/slideLayouts/slideLayout6.xml" Id="Rf78316ea88d4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e4c969cbd4df5"/>
    <p:sldLayoutId xmlns:r="http://schemas.openxmlformats.org/officeDocument/2006/relationships" id="2147483650" r:id="R7563e24ad3ee4c09"/>
    <p:sldLayoutId xmlns:r="http://schemas.openxmlformats.org/officeDocument/2006/relationships" id="2147483651" r:id="R6c4f074fc8324bef"/>
    <p:sldLayoutId xmlns:r="http://schemas.openxmlformats.org/officeDocument/2006/relationships" id="2147483652" r:id="R9a9cca60f0da4594"/>
    <p:sldLayoutId xmlns:r="http://schemas.openxmlformats.org/officeDocument/2006/relationships" id="2147483653" r:id="R5f3f909e617443f4"/>
    <p:sldLayoutId xmlns:r="http://schemas.openxmlformats.org/officeDocument/2006/relationships" id="2147483654" r:id="Rf78316ea88d4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ZerO">
      <a:dk1>
        <a:srgbClr val="000000"/>
      </a:dk1>
      <a:lt1>
        <a:srgbClr val="FFFFFF"/>
      </a:lt1>
      <a:dk2>
        <a:srgbClr val="17365C"/>
      </a:dk2>
      <a:lt2>
        <a:srgbClr val="F6F9FC"/>
      </a:lt2>
      <a:accent1>
        <a:srgbClr val="128777"/>
      </a:accent1>
      <a:accent2>
        <a:srgbClr val="3768B8"/>
      </a:accent2>
      <a:accent3>
        <a:srgbClr val="B97928"/>
      </a:accent3>
      <a:accent4>
        <a:srgbClr val="B24B69"/>
      </a:accent4>
      <a:accent5>
        <a:srgbClr val="7663B7"/>
      </a:accent5>
      <a:accent6>
        <a:srgbClr val="777777"/>
      </a:accent6>
      <a:hlink>
        <a:srgbClr val="3768B8"/>
      </a:hlink>
      <a:folHlink>
        <a:srgbClr val="12877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Ze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2fe2661204f4b" /><Relationship Type="http://schemas.openxmlformats.org/officeDocument/2006/relationships/image" Target="/ppt/media/image.png" Id="R46ec1754c9504de6" /><Relationship Type="http://schemas.openxmlformats.org/officeDocument/2006/relationships/notesSlide" Target="/ppt/notesSlides/notesSlide1.xml" Id="Rcc9f5aab79e940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6f9d1c4b14a86" /><Relationship Type="http://schemas.openxmlformats.org/officeDocument/2006/relationships/notesSlide" Target="/ppt/notesSlides/notesSlide2.xml" Id="Rcfe839be5ce4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b5fcf57cf4122" /><Relationship Type="http://schemas.openxmlformats.org/officeDocument/2006/relationships/notesSlide" Target="/ppt/notesSlides/notesSlide3.xml" Id="R8b4de80dec5c41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03489db324666" /><Relationship Type="http://schemas.openxmlformats.org/officeDocument/2006/relationships/notesSlide" Target="/ppt/notesSlides/notesSlide4.xml" Id="R7eeffb76723545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43668672344de" /><Relationship Type="http://schemas.openxmlformats.org/officeDocument/2006/relationships/chart" Target="/ppt/slides/charts/chart1.xml" Id="R11ea528187284a59" /><Relationship Type="http://schemas.openxmlformats.org/officeDocument/2006/relationships/notesSlide" Target="/ppt/notesSlides/notesSlide5.xml" Id="R0f9c334f78cf4c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a4944ab0e4e51" /><Relationship Type="http://schemas.openxmlformats.org/officeDocument/2006/relationships/notesSlide" Target="/ppt/notesSlides/notesSlide6.xml" Id="Rb50f35a90c59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4044658854a61" /><Relationship Type="http://schemas.openxmlformats.org/officeDocument/2006/relationships/notesSlide" Target="/ppt/notesSlides/notesSlide7.xml" Id="Rb93c7fe696ff49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3ab6d10814ad5" /><Relationship Type="http://schemas.openxmlformats.org/officeDocument/2006/relationships/notesSlide" Target="/ppt/notesSlides/notesSlide8.xml" Id="R9709f67d721447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ZerO, статья</c:v>
          </c:tx>
          <c:spPr>
            <a:ln xmlns:a="http://schemas.openxmlformats.org/drawingml/2006/main" w="28575">
              <a:solidFill>
                <a:srgbClr val="128777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28777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10⁻²</c:v>
                </c:pt>
                <c:pt idx="1">
                  <c:v>10⁻³</c:v>
                </c:pt>
                <c:pt idx="2">
                  <c:v>10⁻⁴</c:v>
                </c:pt>
                <c:pt idx="3">
                  <c:v>10⁻⁵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338.3</c:v>
                </c:pt>
                <c:pt idx="1">
                  <c:v>794</c:v>
                </c:pt>
                <c:pt idx="2">
                  <c:v>1007.3</c:v>
                </c:pt>
                <c:pt idx="3">
                  <c:v>1108</c:v>
                </c:pt>
              </c:numCache>
            </c:numRef>
          </c:val>
          <c:smooth val="0"/>
        </c:ser>
        <c:ser>
          <c:idx val="1"/>
          <c:order val="1"/>
          <c:tx>
            <c:v>Identity</c:v>
          </c:tx>
          <c:spPr>
            <a:ln xmlns:a="http://schemas.openxmlformats.org/drawingml/2006/main" w="28575">
              <a:solidFill>
                <a:srgbClr val="B97928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B97928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10⁻²</c:v>
                </c:pt>
                <c:pt idx="1">
                  <c:v>10⁻³</c:v>
                </c:pt>
                <c:pt idx="2">
                  <c:v>10⁻⁴</c:v>
                </c:pt>
                <c:pt idx="3">
                  <c:v>10⁻⁵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336</c:v>
                </c:pt>
                <c:pt idx="1">
                  <c:v>502</c:v>
                </c:pt>
                <c:pt idx="2">
                  <c:v>586</c:v>
                </c:pt>
                <c:pt idx="3">
                  <c:v>641</c:v>
                </c:pt>
              </c:numCache>
            </c:numRef>
          </c:val>
          <c:smooth val="0"/>
        </c:ser>
        <c:ser>
          <c:idx val="2"/>
          <c:order val="2"/>
          <c:tx>
            <c:v>Размер входа: 784</c:v>
          </c:tx>
          <c:spPr>
            <a:ln xmlns:a="http://schemas.openxmlformats.org/drawingml/2006/main" w="14288">
              <a:solidFill>
                <a:srgbClr val="8C99A8"/>
              </a:solidFill>
              <a:prstDash val="dash"/>
            </a:ln>
          </c:spPr>
          <c:marker>
            <c:symbol val="none"/>
          </c:marker>
          <c:cat>
            <c:strRef>
              <c:f>'Chart Data'!$E$2:$E$5</c:f>
              <c:strCache>
                <c:ptCount val="4"/>
                <c:pt idx="0">
                  <c:v>10⁻²</c:v>
                </c:pt>
                <c:pt idx="1">
                  <c:v>10⁻³</c:v>
                </c:pt>
                <c:pt idx="2">
                  <c:v>10⁻⁴</c:v>
                </c:pt>
                <c:pt idx="3">
                  <c:v>10⁻⁵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784</c:v>
                </c:pt>
                <c:pt idx="1">
                  <c:v>784</c:v>
                </c:pt>
                <c:pt idx="2">
                  <c:v>784</c:v>
                </c:pt>
                <c:pt idx="3">
                  <c:v>784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5364B"/>
                    </a:solidFill>
                    <a:latin typeface="Arial"/>
                    <a:ea typeface="Arial"/>
                    <a:cs typeface="Arial"/>
                  </a:rPr>
                  <a:t>Абсолютный порог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5364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5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5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5364B"/>
                    </a:solidFill>
                    <a:latin typeface="Arial"/>
                    <a:ea typeface="Arial"/>
                    <a:cs typeface="Arial"/>
                  </a:rPr>
                  <a:t>Ранг ΔW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5364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536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FA31-0ED3-4540-817A-38AC3E3E3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c1754c9504de6"/>
          <a:stretch xmlns:a="http://schemas.openxmlformats.org/drawingml/2006/main"/>
        </p:blipFill>
        <p:spPr>
          <a:xfrm xmlns:a="http://schemas.openxmlformats.org/drawingml/2006/main">
            <a:off x="7191375" y="1381125"/>
            <a:ext cx="4667250" cy="466725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E61E90D-AF37-49D5-872C-602B531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ДОМАШНЕЕ ЗАДАНИЕ №2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7B8724-A056-4E1F-85C5-1EE2CDE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ZerO: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нужен ли нейросети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рандом на старте?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C9B72BB-DEA9-408D-8403-CB33EE92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Воспроизведение на MNIST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и опыт с Transformer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71CDB9CC-B644-41E3-9B72-B37ABAC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Zhao, Schäfer, Anandkumar · TMLR 2022</a:t>
            </a:r>
          </a:p>
        </p:txBody>
      </p:sp>
    </p:spTree>
    <p:extLst>
      <p:ext uri="{BB962C8B-B14F-4D97-AF65-F5344CB8AC3E}">
        <p14:creationId xmlns:p14="http://schemas.microsoft.com/office/powerpoint/2010/main" val="2123688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42A6D14-9F71-459C-B746-D39063B4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Зачем сети случайные начальные веса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60F599-914A-478F-B257-0E83BD4A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Инициализация задает веса до первого шага обучения.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8FC8BED-7B7A-42DF-B0BE-E7C39843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Что дает случайный старт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144CE2-C7D7-4661-803E-1CD9531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Нейроны начинают по-разному.</a:t>
            </a:r>
          </a:p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Но новый набор весов может</a:t>
            </a:r>
          </a:p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изменить ход обучения.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41BE755-E317-43C8-9257-CD16FC2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Почему не поставить нули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76B522E-8A34-4881-81AB-A0926247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 моей ReLU-сети без bias</a:t>
            </a:r>
          </a:p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признаки и градиенты обнуляются.</a:t>
            </a:r>
          </a:p>
          <a:p xmlns:a="http://schemas.openxmlformats.org/drawingml/2006/main">
            <a: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Обучение застревает.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A27A5AF-47F3-4BEA-AB3C-9F31BAE6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0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Задача ZerO: задать веса без рандома</a:t>
            </a:r>
          </a:p>
          <a:p xmlns:a="http://schemas.openxmlformats.org/drawingml/2006/main">
            <a: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и сохранить способность сети учиться.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F59D53-FAB5-4389-AE3A-F43ED2F4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2637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CB260A8-910A-4B9E-A29B-FBD92BCC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Как ZerO задает начальные веса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51DFD3-BA6C-4534-95A6-87AB1931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5FC3CB-51AC-4BE2-B488-5AC10669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ZerO задает веса заранее. Основа — копирование и смешивание входов.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9782F72-DA93-4C4D-957F-241EE5A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Копирование координат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9D019A8-FF1C-451C-9353-3E07CB5D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Identity сохраняет координаты.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При расширении слоя новые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выходы на старте равны нулю.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883E6AE-1CC2-40CF-A93F-C19816A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C"/>
                </a:solidFill>
                <a:latin typeface="Arial"/>
                <a:ea typeface="Arial"/>
                <a:cs typeface="Arial"/>
              </a:rPr>
              <a:t>Вход: (2, 5)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C"/>
                </a:solidFill>
                <a:latin typeface="Arial"/>
                <a:ea typeface="Arial"/>
                <a:cs typeface="Arial"/>
              </a:rPr>
              <a:t>Копирование: (2, 5, 0, 0)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FF6DE70-E212-4D23-B2B5-75BA5BD1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Смешивание при расширении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9517F20-28C4-45B8-AC26-9860796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Хадамард использует суммы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и разности входов.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1A359-8E49-485B-BDAF-8EE0B12ACFDF}"/>
              </a:ext>
            </a:extLst>
          </p:cNvPr>
          <p:cNvGraphicFramePr/>
          <p:nvPr/>
        </p:nvGraphicFramePr>
        <p:xfrm>
          <a:off xmlns:a="http://schemas.openxmlformats.org/drawingml/2006/main" x="6381750" y="4048125"/>
          <a:ext xmlns:a="http://schemas.openxmlformats.org/drawingml/2006/main" cx="51435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</a:tblGrid>
              <a:tr h="4953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= 2, b =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</a:tr>
              <a:tr h="4953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a + b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a − b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E11E774-6C9A-478E-9A79-320ABE3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ReLU обнуляет отрицательные значения и меняет набор активных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865365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B33B598-53EE-462E-A6CE-8ECF25C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На MNIST все четыре старта дали &gt;98%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405B4F-C8C2-4E33-B654-F49BC2A1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E329002-BC5D-479E-A4CD-2AA4C0B5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MLP: 784 → 2048 → 2048 → 10, ReLU, без bias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60 000 / 10 000 изображений, 14 эпох SGD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5C545-A6F3-487B-937B-AF549CEE72AC}"/>
              </a:ext>
            </a:extLst>
          </p:cNvPr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700087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476500"/>
              </a:tblGrid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Начальные веса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Точность, 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ZerO, статья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98,22 ± 0,03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ZerO, авторский код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98,31 ± 0,04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Kaiming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98,32 ± 0,04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Xavier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98,30 ± 0,05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939834-6D4D-41CD-8A45-4C115523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Контрольные варианты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B9B5D6B-291C-4886-8CE2-D1062AA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65C"/>
                </a:solidFill>
                <a:latin typeface="Arial"/>
                <a:ea typeface="Arial"/>
                <a:cs typeface="Arial"/>
              </a:rPr>
              <a:t>Identity: 98,22%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65C"/>
                </a:solidFill>
                <a:latin typeface="Arial"/>
                <a:ea typeface="Arial"/>
                <a:cs typeface="Arial"/>
              </a:rPr>
              <a:t>Все нули: 9,80%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5199C57-5FF2-402F-B49D-DF69441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По одному запуску.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Полностью нулевая сеть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здесь не учится.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1ACABA1-1C18-48FF-8D2F-7FB9705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700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Среднее ± стандартное отклонение, 3 запуска.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596A60B-DD24-47DC-9F0D-104F9C5D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Результат Appendix B повторился.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Kaiming и Xavier остались рядом.</a:t>
            </a:r>
          </a:p>
        </p:txBody>
      </p:sp>
    </p:spTree>
    <p:extLst>
      <p:ext uri="{BB962C8B-B14F-4D97-AF65-F5344CB8AC3E}">
        <p14:creationId xmlns:p14="http://schemas.microsoft.com/office/powerpoint/2010/main" val="1897656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345CFF6-E878-404B-B053-A0D38F1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Больше направлений не гарантирует точность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38B2AA-B60A-4061-9670-81063565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EFAC8E7-7079-4966-BC17-2BBBD2CE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10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Ранг считает независимые направления.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Я измерял ΔW = W₂ − I после 14 эпох обучения.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A38CF08-BD71-4E90-BE65-B9E5F5CFBB63}"/>
              </a:ext>
            </a:extLst>
          </p:cNvPr>
          <p:cNvGraphicFramePr/>
          <p:nvPr/>
        </p:nvGraphicFramePr>
        <p:xfrm>
          <a:off xmlns:a="http://schemas.openxmlformats.org/drawingml/2006/main" x="609600" y="2543175"/>
          <a:ext xmlns:a="http://schemas.openxmlformats.org/drawingml/2006/main" cx="7048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ea528187284a59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A75DB56-C0F0-49C3-B230-7D3C2BF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При пороге 10⁻⁴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CB73A97-E127-457D-9D40-1360BF9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ZerO: 1007,3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Identity: 586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6AE0EB4-AC09-42EC-AD11-7B98159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При этом identity тоже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дал 98,22% точности.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D17E51E-71F2-492B-BCBA-B07776E3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ZerO: среднее 3 запусков. Identity: 1 запуск.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Меньше порог — больше направлений считаем значимыми.</a:t>
            </a:r>
          </a:p>
        </p:txBody>
      </p:sp>
    </p:spTree>
    <p:extLst>
      <p:ext uri="{BB962C8B-B14F-4D97-AF65-F5344CB8AC3E}">
        <p14:creationId xmlns:p14="http://schemas.microsoft.com/office/powerpoint/2010/main" val="219570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3B8C83-B300-426E-967C-CEB192B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Transformer на цифрах тоже обучился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C9D40E-4173-493A-AF42-584C8C62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05323A-8A33-4B23-8858-9AFE761E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16 патчей 7 × 7, 2 блока, 4 головы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Полная MNIST, 10 эпох AdamW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85450-7BBC-4C45-A1E2-0E207448475F}"/>
              </a:ext>
            </a:extLst>
          </p:cNvPr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7239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2524125"/>
              </a:tblGrid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Начальные веса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Точность, 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T w="6668">
                      <a:solidFill>
                        <a:srgbClr val="DFE5ED"/>
                      </a:solidFill>
                      <a:prstDash val="solid"/>
                    </a:lnT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17365C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Xavier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97,59 ± 0,59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96,97 ± 0,15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ZerO-inspired, статья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97,19 ± 0,11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95250" rIns="133350" bIns="95250"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ZerO-inspired, авторский код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E5ED"/>
                      </a:solidFill>
                      <a:prstDash val="solid"/>
                    </a:lnL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r">
                        <a:buNone/>
                      </a:pPr>
                      <a:r>
                        <a:rPr sz="2100" b="0">
                          <a:solidFill>
                            <a:srgbClr val="25364B"/>
                          </a:solidFill>
                          <a:latin typeface="Arial"/>
                          <a:ea typeface="Arial"/>
                          <a:cs typeface="Arial"/>
                        </a:rPr>
                        <a:t>97,67 ± 0,27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E5ED"/>
                      </a:solidFill>
                      <a:prstDash val="solid"/>
                    </a:lnR>
                    <a:lnB w="6668">
                      <a:solidFill>
                        <a:srgbClr val="DFE5ED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7D43E0-FE16-4EBD-B522-19579794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3238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Качество рядом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с Xavier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4B25251-C813-4154-9F45-948C62D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14800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Трех повторов мало,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чтобы выбрать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победителя.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6B338C1-6814-458B-8CC5-938AD760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Среднее ± стандартное отклонение, 3 запуска.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6FB573D-F768-4378-963A-7C01C2F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0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 статье Transformer решал языковую задачу WikiText-2.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Здесь я проверил распознавание цифр по патчам.</a:t>
            </a:r>
          </a:p>
        </p:txBody>
      </p:sp>
    </p:spTree>
    <p:extLst>
      <p:ext uri="{BB962C8B-B14F-4D97-AF65-F5344CB8AC3E}">
        <p14:creationId xmlns:p14="http://schemas.microsoft.com/office/powerpoint/2010/main" val="1719593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AACE71E5-51B2-4CF6-9684-6F10705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Что дали дополнительные проверки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003D49-4FEE-4F6C-9A5C-E9CC196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C9F3965-9216-4619-A414-C2FD9F75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Два масштаба весов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78AE0C2-6A7D-4C73-8354-F1B04F6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 статье √(2/M), в авторском коде 1/√M. Проверил оба варианта: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на MLP получилось 98,22% и 98,31%.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4E80260-1045-45B6-AF9B-8D3D6CBB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Первые шаги attention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14FB5EB-29A1-41EE-84BB-EFDD404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Даже с нулями в части весов attention начинает учиться.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Градиенты появляются поэтапно: не все веса меняются сразу.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B43097D-5336-40C3-B469-AA845306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Пример в доказательстве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6CE36B4-AB9E-40B5-8D1D-D10D7B2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У четырех векторов из статьи ранг 3, хотя заявлен 4.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Исправленный пример дает четыре независимых направления.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B2C09A2-45ED-4CBA-8165-7C7F61B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M: размер полной таблицы Хадамарда.</a:t>
            </a:r>
          </a:p>
        </p:txBody>
      </p:sp>
    </p:spTree>
    <p:extLst>
      <p:ext uri="{BB962C8B-B14F-4D97-AF65-F5344CB8AC3E}">
        <p14:creationId xmlns:p14="http://schemas.microsoft.com/office/powerpoint/2010/main" val="384634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689911A-DCF9-4CC8-A0F1-EB57B80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5C"/>
                </a:solidFill>
                <a:latin typeface="Arial"/>
                <a:ea typeface="Arial"/>
                <a:cs typeface="Arial"/>
              </a:rPr>
              <a:t>Что я вынес из работы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A22F3D-43FD-47FB-B482-CB1B8B53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13B3FAC-9DB9-4098-BC5A-DFD14C3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Заранее заданные веса работают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964A1B-E98C-4822-A14D-E055F5D0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В этих опытах MLP и небольшой Transformer обучились.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480896-2D90-4DB3-A856-470765C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Одного значения ранга недостаточно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747D3C-01DB-4C04-8A05-B9780E02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Identity хорошо решал задачу даже при ограниченном ранге.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0C24C79-4631-463D-8E3A-3341504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87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777"/>
                </a:solidFill>
                <a:latin typeface="Arial"/>
                <a:ea typeface="Arial"/>
                <a:cs typeface="Arial"/>
              </a:rPr>
              <a:t>Одинаковые веса не делают обучение одинаковым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C186E11-B387-4394-9476-5349E547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B"/>
                </a:solidFill>
                <a:latin typeface="Arial"/>
                <a:ea typeface="Arial"/>
                <a:cs typeface="Arial"/>
              </a:rPr>
              <a:t>Порядок батчей меняется между повторами.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BFC160E-1F82-4EC6-8A27-B992CF98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736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5C"/>
                </a:solidFill>
                <a:latin typeface="Arial"/>
                <a:ea typeface="Arial"/>
                <a:cs typeface="Arial"/>
              </a:rPr>
              <a:t>Код и 26 запусков: reproduce.ipynb в папке hw2</a:t>
            </a:r>
          </a:p>
        </p:txBody>
      </p:sp>
    </p:spTree>
    <p:extLst>
      <p:ext uri="{BB962C8B-B14F-4D97-AF65-F5344CB8AC3E}">
        <p14:creationId xmlns:p14="http://schemas.microsoft.com/office/powerpoint/2010/main" val="1088354144"/>
      </p:ext>
    </p:extLst>
  </p:cSld>
</p:sld>
</file>

<file path=ppt/theme/theme1.xml><?xml version="1.0" encoding="utf-8"?>
<a:theme xmlns:a="http://schemas.openxmlformats.org/drawingml/2006/main" name="ChatGPT">
  <a:themeElements>
    <a:clrScheme name="ZerO">
      <a:dk1>
        <a:srgbClr val="000000"/>
      </a:dk1>
      <a:lt1>
        <a:srgbClr val="FFFFFF"/>
      </a:lt1>
      <a:dk2>
        <a:srgbClr val="17365C"/>
      </a:dk2>
      <a:lt2>
        <a:srgbClr val="F6F9FC"/>
      </a:lt2>
      <a:accent1>
        <a:srgbClr val="128777"/>
      </a:accent1>
      <a:accent2>
        <a:srgbClr val="3768B8"/>
      </a:accent2>
      <a:accent3>
        <a:srgbClr val="B97928"/>
      </a:accent3>
      <a:accent4>
        <a:srgbClr val="B24B69"/>
      </a:accent4>
      <a:accent5>
        <a:srgbClr val="7663B7"/>
      </a:accent5>
      <a:accent6>
        <a:srgbClr val="777777"/>
      </a:accent6>
      <a:hlink>
        <a:srgbClr val="3768B8"/>
      </a:hlink>
      <a:folHlink>
        <a:srgbClr val="12877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Ze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2026-10-28T13:05:47.5030000Z</dcterms:created>
  <dcterms:modified xsi:type="dcterms:W3CDTF">2026-10-28T13:05:47.5030000Z</dcterms:modified>
</coreProperties>
</file>